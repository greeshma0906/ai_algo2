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51e45298c8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51e45298c8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51e45298c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51e45298c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51e45298c8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51e45298c8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51e45298c8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51e45298c8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drive.google.com/file/d/1HY7Uea-uBvhDnmUQZrmFmOfhv9rQfj3H/view?usp=sharing" TargetMode="External"/><Relationship Id="rId4" Type="http://schemas.openxmlformats.org/officeDocument/2006/relationships/hyperlink" Target="https://drive.google.com/file/d/1-qN58nDnJNN5Kgpx0Gx1UE3LY9X2rAVk/view?usp=sharing"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title"/>
          </p:nvPr>
        </p:nvSpPr>
        <p:spPr>
          <a:xfrm>
            <a:off x="204725" y="113950"/>
            <a:ext cx="8276700" cy="734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AI_ASSIGNMENT - 2</a:t>
            </a:r>
            <a:endParaRPr/>
          </a:p>
        </p:txBody>
      </p:sp>
      <p:sp>
        <p:nvSpPr>
          <p:cNvPr id="55" name="Google Shape;55;p13"/>
          <p:cNvSpPr txBox="1"/>
          <p:nvPr/>
        </p:nvSpPr>
        <p:spPr>
          <a:xfrm>
            <a:off x="0" y="848050"/>
            <a:ext cx="9144000" cy="3318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800">
                <a:solidFill>
                  <a:schemeClr val="dk1"/>
                </a:solidFill>
              </a:rPr>
              <a:t>Algorithms Implemented</a:t>
            </a:r>
            <a:endParaRPr b="1" sz="1800">
              <a:solidFill>
                <a:schemeClr val="dk1"/>
              </a:solidFill>
            </a:endParaRPr>
          </a:p>
          <a:p>
            <a:pPr indent="-342900" lvl="0" marL="457200" rtl="0" algn="l">
              <a:lnSpc>
                <a:spcPct val="115000"/>
              </a:lnSpc>
              <a:spcBef>
                <a:spcPts val="1200"/>
              </a:spcBef>
              <a:spcAft>
                <a:spcPts val="0"/>
              </a:spcAft>
              <a:buClr>
                <a:schemeClr val="dk1"/>
              </a:buClr>
              <a:buSzPts val="1800"/>
              <a:buChar char="●"/>
            </a:pPr>
            <a:r>
              <a:rPr b="1" lang="en" sz="1800">
                <a:solidFill>
                  <a:schemeClr val="dk1"/>
                </a:solidFill>
              </a:rPr>
              <a:t>Minimax</a:t>
            </a:r>
            <a:r>
              <a:rPr lang="en" sz="1800">
                <a:solidFill>
                  <a:schemeClr val="dk1"/>
                </a:solidFill>
              </a:rPr>
              <a:t>:</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 sz="1800">
                <a:solidFill>
                  <a:schemeClr val="dk1"/>
                </a:solidFill>
              </a:rPr>
              <a:t>Explores full game tree to find the optimal move by assuming opponent plays optimally.</a:t>
            </a:r>
            <a:br>
              <a:rPr lang="en" sz="1800">
                <a:solidFill>
                  <a:schemeClr val="dk1"/>
                </a:solidFill>
              </a:rPr>
            </a:b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n" sz="1800">
                <a:solidFill>
                  <a:schemeClr val="dk1"/>
                </a:solidFill>
              </a:rPr>
              <a:t>Alpha-Beta Pruning</a:t>
            </a:r>
            <a:r>
              <a:rPr lang="en" sz="1800">
                <a:solidFill>
                  <a:schemeClr val="dk1"/>
                </a:solidFill>
              </a:rPr>
              <a:t>:</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 sz="1800">
                <a:solidFill>
                  <a:schemeClr val="dk1"/>
                </a:solidFill>
              </a:rPr>
              <a:t>Optimized version of Minimax by pruning irrelevant branches, reducing </a:t>
            </a:r>
            <a:r>
              <a:rPr lang="en" sz="1800">
                <a:solidFill>
                  <a:schemeClr val="dk1"/>
                </a:solidFill>
              </a:rPr>
              <a:t>computation</a:t>
            </a:r>
            <a:endParaRPr b="1" sz="1800">
              <a:solidFill>
                <a:schemeClr val="dk1"/>
              </a:solidFill>
            </a:endParaRPr>
          </a:p>
          <a:p>
            <a:pPr indent="0" lvl="0" marL="0" rtl="0" algn="l">
              <a:lnSpc>
                <a:spcPct val="115000"/>
              </a:lnSpc>
              <a:spcBef>
                <a:spcPts val="1200"/>
              </a:spcBef>
              <a:spcAft>
                <a:spcPts val="1200"/>
              </a:spcAft>
              <a:buNone/>
            </a:pPr>
            <a:r>
              <a:rPr b="1" lang="en" sz="1800">
                <a:solidFill>
                  <a:schemeClr val="dk1"/>
                </a:solidFill>
              </a:rPr>
              <a:t>Environment Used</a:t>
            </a:r>
            <a:r>
              <a:rPr lang="en" sz="1800">
                <a:solidFill>
                  <a:schemeClr val="dk1"/>
                </a:solidFill>
              </a:rPr>
              <a:t>: Chess environment</a:t>
            </a:r>
            <a:endParaRPr sz="18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nvSpPr>
        <p:spPr>
          <a:xfrm>
            <a:off x="0" y="0"/>
            <a:ext cx="8672700" cy="5538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800">
                <a:solidFill>
                  <a:schemeClr val="dk1"/>
                </a:solidFill>
              </a:rPr>
              <a:t>Evaluation Function</a:t>
            </a:r>
            <a:endParaRPr b="1" sz="1800">
              <a:solidFill>
                <a:schemeClr val="dk1"/>
              </a:solidFill>
            </a:endParaRPr>
          </a:p>
          <a:p>
            <a:pPr indent="0" lvl="0" marL="0" rtl="0" algn="l">
              <a:lnSpc>
                <a:spcPct val="115000"/>
              </a:lnSpc>
              <a:spcBef>
                <a:spcPts val="1200"/>
              </a:spcBef>
              <a:spcAft>
                <a:spcPts val="0"/>
              </a:spcAft>
              <a:buNone/>
            </a:pPr>
            <a:r>
              <a:rPr lang="en" sz="1800">
                <a:solidFill>
                  <a:schemeClr val="dk1"/>
                </a:solidFill>
              </a:rPr>
              <a:t>To assess non-terminal game states during Alpha-Beta Pruning, we implemented a </a:t>
            </a:r>
            <a:r>
              <a:rPr b="1" lang="en" sz="1800">
                <a:solidFill>
                  <a:schemeClr val="dk1"/>
                </a:solidFill>
              </a:rPr>
              <a:t>material-based evaluation function</a:t>
            </a:r>
            <a:r>
              <a:rPr lang="en" sz="1800">
                <a:solidFill>
                  <a:schemeClr val="dk1"/>
                </a:solidFill>
              </a:rPr>
              <a:t>. It assigns scores based on the number and type of pieces remaining for each side. This function adds the total material value of the white pieces and subtracts that of the black pieces, returning a numerical score that guides the algorithm’s decision-making. A positive score favors White, and a negative score favors Black.</a:t>
            </a:r>
            <a:endParaRPr sz="1800">
              <a:solidFill>
                <a:schemeClr val="dk1"/>
              </a:solidFill>
            </a:endParaRPr>
          </a:p>
          <a:p>
            <a:pPr indent="0" lvl="0" marL="0" rtl="0" algn="l">
              <a:lnSpc>
                <a:spcPct val="115000"/>
              </a:lnSpc>
              <a:spcBef>
                <a:spcPts val="1200"/>
              </a:spcBef>
              <a:spcAft>
                <a:spcPts val="0"/>
              </a:spcAft>
              <a:buNone/>
            </a:pPr>
            <a:r>
              <a:rPr b="1" lang="en" sz="1800">
                <a:solidFill>
                  <a:schemeClr val="dk1"/>
                </a:solidFill>
              </a:rPr>
              <a:t>Video links:</a:t>
            </a:r>
            <a:br>
              <a:rPr lang="en" sz="1800">
                <a:solidFill>
                  <a:schemeClr val="dk1"/>
                </a:solidFill>
              </a:rPr>
            </a:br>
            <a:r>
              <a:rPr lang="en" sz="1800">
                <a:solidFill>
                  <a:schemeClr val="dk1"/>
                </a:solidFill>
              </a:rPr>
              <a:t>Minimax: </a:t>
            </a:r>
            <a:r>
              <a:rPr lang="en" sz="1800" u="sng">
                <a:solidFill>
                  <a:schemeClr val="hlink"/>
                </a:solidFill>
                <a:hlinkClick r:id="rId3"/>
              </a:rPr>
              <a:t>https://drive.google.com/file/d/1HY7Uea-uBvhDnmUQZrmFmOfhv9rQfj3H/view?usp=sharing</a:t>
            </a:r>
            <a:endParaRPr sz="1800">
              <a:solidFill>
                <a:schemeClr val="dk1"/>
              </a:solidFill>
            </a:endParaRPr>
          </a:p>
          <a:p>
            <a:pPr indent="0" lvl="0" marL="0" rtl="0" algn="l">
              <a:lnSpc>
                <a:spcPct val="115000"/>
              </a:lnSpc>
              <a:spcBef>
                <a:spcPts val="1200"/>
              </a:spcBef>
              <a:spcAft>
                <a:spcPts val="0"/>
              </a:spcAft>
              <a:buNone/>
            </a:pPr>
            <a:r>
              <a:rPr lang="en" sz="1800">
                <a:solidFill>
                  <a:schemeClr val="dk1"/>
                </a:solidFill>
              </a:rPr>
              <a:t>Alpha-Beta pruning: </a:t>
            </a:r>
            <a:r>
              <a:rPr lang="en" sz="1800" u="sng">
                <a:solidFill>
                  <a:schemeClr val="hlink"/>
                </a:solidFill>
                <a:hlinkClick r:id="rId4"/>
              </a:rPr>
              <a:t>https://drive.google.com/file/d/1-qN58nDnJNN5Kgpx0Gx1UE3LY9X2rAVk/view?usp=sharing</a:t>
            </a:r>
            <a:endParaRPr sz="1800">
              <a:solidFill>
                <a:schemeClr val="dk1"/>
              </a:solidFill>
            </a:endParaRPr>
          </a:p>
          <a:p>
            <a:pPr indent="0" lvl="0" marL="0" rtl="0" algn="l">
              <a:lnSpc>
                <a:spcPct val="115000"/>
              </a:lnSpc>
              <a:spcBef>
                <a:spcPts val="1200"/>
              </a:spcBef>
              <a:spcAft>
                <a:spcPts val="1200"/>
              </a:spcAft>
              <a:buNone/>
            </a:pPr>
            <a:r>
              <a:t/>
            </a:r>
            <a:endParaRPr sz="18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pic>
        <p:nvPicPr>
          <p:cNvPr id="65" name="Google Shape;65;p15"/>
          <p:cNvPicPr preferRelativeResize="0"/>
          <p:nvPr/>
        </p:nvPicPr>
        <p:blipFill>
          <a:blip r:embed="rId3">
            <a:alphaModFix/>
          </a:blip>
          <a:stretch>
            <a:fillRect/>
          </a:stretch>
        </p:blipFill>
        <p:spPr>
          <a:xfrm>
            <a:off x="0" y="986850"/>
            <a:ext cx="8839199" cy="363267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pic>
        <p:nvPicPr>
          <p:cNvPr id="70" name="Google Shape;70;p16"/>
          <p:cNvPicPr preferRelativeResize="0"/>
          <p:nvPr/>
        </p:nvPicPr>
        <p:blipFill>
          <a:blip r:embed="rId3">
            <a:alphaModFix/>
          </a:blip>
          <a:stretch>
            <a:fillRect/>
          </a:stretch>
        </p:blipFill>
        <p:spPr>
          <a:xfrm>
            <a:off x="166100" y="1027875"/>
            <a:ext cx="8672400" cy="3677875"/>
          </a:xfrm>
          <a:prstGeom prst="rect">
            <a:avLst/>
          </a:prstGeom>
          <a:noFill/>
          <a:ln>
            <a:noFill/>
          </a:ln>
        </p:spPr>
      </p:pic>
      <p:sp>
        <p:nvSpPr>
          <p:cNvPr id="71" name="Google Shape;71;p16"/>
          <p:cNvSpPr txBox="1"/>
          <p:nvPr/>
        </p:nvSpPr>
        <p:spPr>
          <a:xfrm>
            <a:off x="341975" y="300950"/>
            <a:ext cx="7428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Performance comparison of Minimax Vs Alpha-Beta at each move</a:t>
            </a:r>
            <a:endParaRPr b="1" sz="1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7"/>
          <p:cNvSpPr txBox="1"/>
          <p:nvPr/>
        </p:nvSpPr>
        <p:spPr>
          <a:xfrm>
            <a:off x="194550" y="629275"/>
            <a:ext cx="8754900" cy="4063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rPr>
              <a:t>Efficient Pruning</a:t>
            </a:r>
            <a:r>
              <a:rPr lang="en" sz="1800">
                <a:solidFill>
                  <a:schemeClr val="dk1"/>
                </a:solidFill>
              </a:rPr>
              <a:t>: Alpha-Beta skips irrelevant branches, reducing node evaluations drastically.</a:t>
            </a:r>
            <a:br>
              <a:rPr lang="en" sz="1800">
                <a:solidFill>
                  <a:schemeClr val="dk1"/>
                </a:solidFill>
              </a:rPr>
            </a:br>
            <a:endParaRPr sz="1800">
              <a:solidFill>
                <a:schemeClr val="dk1"/>
              </a:solidFill>
            </a:endParaRPr>
          </a:p>
          <a:p>
            <a:pPr indent="0" lvl="0" marL="0" rtl="0" algn="l">
              <a:spcBef>
                <a:spcPts val="0"/>
              </a:spcBef>
              <a:spcAft>
                <a:spcPts val="0"/>
              </a:spcAft>
              <a:buNone/>
            </a:pPr>
            <a:r>
              <a:rPr b="1" lang="en" sz="1800">
                <a:solidFill>
                  <a:schemeClr val="dk1"/>
                </a:solidFill>
              </a:rPr>
              <a:t>Faster Computation</a:t>
            </a:r>
            <a:r>
              <a:rPr lang="en" sz="1800">
                <a:solidFill>
                  <a:schemeClr val="dk1"/>
                </a:solidFill>
              </a:rPr>
              <a:t>: It reaches decisions up to 6x faster than Minimax by processing fewer nodes.</a:t>
            </a:r>
            <a:br>
              <a:rPr lang="en" sz="1800">
                <a:solidFill>
                  <a:schemeClr val="dk1"/>
                </a:solidFill>
              </a:rPr>
            </a:br>
            <a:endParaRPr sz="1800">
              <a:solidFill>
                <a:schemeClr val="dk1"/>
              </a:solidFill>
            </a:endParaRPr>
          </a:p>
          <a:p>
            <a:pPr indent="0" lvl="0" marL="0" rtl="0" algn="l">
              <a:spcBef>
                <a:spcPts val="0"/>
              </a:spcBef>
              <a:spcAft>
                <a:spcPts val="0"/>
              </a:spcAft>
              <a:buNone/>
            </a:pPr>
            <a:r>
              <a:rPr b="1" lang="en" sz="1800">
                <a:solidFill>
                  <a:schemeClr val="dk1"/>
                </a:solidFill>
              </a:rPr>
              <a:t>Reduced Redundancy</a:t>
            </a:r>
            <a:r>
              <a:rPr lang="en" sz="1800">
                <a:solidFill>
                  <a:schemeClr val="dk1"/>
                </a:solidFill>
              </a:rPr>
              <a:t>: Alpha-Beta avoids reprocessing repetitive moves, unlike brute-force Minimax.</a:t>
            </a:r>
            <a:br>
              <a:rPr lang="en" sz="1800">
                <a:solidFill>
                  <a:schemeClr val="dk1"/>
                </a:solidFill>
              </a:rPr>
            </a:br>
            <a:endParaRPr sz="1800">
              <a:solidFill>
                <a:schemeClr val="dk1"/>
              </a:solidFill>
            </a:endParaRPr>
          </a:p>
          <a:p>
            <a:pPr indent="0" lvl="0" marL="0" rtl="0" algn="l">
              <a:spcBef>
                <a:spcPts val="0"/>
              </a:spcBef>
              <a:spcAft>
                <a:spcPts val="0"/>
              </a:spcAft>
              <a:buNone/>
            </a:pPr>
            <a:r>
              <a:rPr b="1" lang="en" sz="1800">
                <a:solidFill>
                  <a:schemeClr val="dk1"/>
                </a:solidFill>
              </a:rPr>
              <a:t>Smarter Depth Handling</a:t>
            </a:r>
            <a:r>
              <a:rPr lang="en" sz="1800">
                <a:solidFill>
                  <a:schemeClr val="dk1"/>
                </a:solidFill>
              </a:rPr>
              <a:t>: It evaluates fewer nodes in complex turns while maintaining decision quality.</a:t>
            </a:r>
            <a:br>
              <a:rPr lang="en" sz="1800">
                <a:solidFill>
                  <a:schemeClr val="dk1"/>
                </a:solidFill>
              </a:rPr>
            </a:br>
            <a:endParaRPr sz="1800">
              <a:solidFill>
                <a:schemeClr val="dk1"/>
              </a:solidFill>
            </a:endParaRPr>
          </a:p>
          <a:p>
            <a:pPr indent="0" lvl="0" marL="0" rtl="0" algn="l">
              <a:spcBef>
                <a:spcPts val="0"/>
              </a:spcBef>
              <a:spcAft>
                <a:spcPts val="0"/>
              </a:spcAft>
              <a:buNone/>
            </a:pPr>
            <a:r>
              <a:rPr b="1" lang="en" sz="1800">
                <a:solidFill>
                  <a:schemeClr val="dk1"/>
                </a:solidFill>
              </a:rPr>
              <a:t>Real-Time Viability</a:t>
            </a:r>
            <a:r>
              <a:rPr lang="en" sz="1800">
                <a:solidFill>
                  <a:schemeClr val="dk1"/>
                </a:solidFill>
              </a:rPr>
              <a:t>: Alpha-Beta delivers rapid responses ideal for fast-paced game environments.</a:t>
            </a:r>
            <a:endParaRPr sz="1800">
              <a:solidFill>
                <a:schemeClr val="dk1"/>
              </a:solidFill>
            </a:endParaRPr>
          </a:p>
        </p:txBody>
      </p:sp>
      <p:sp>
        <p:nvSpPr>
          <p:cNvPr id="77" name="Google Shape;77;p17"/>
          <p:cNvSpPr txBox="1"/>
          <p:nvPr/>
        </p:nvSpPr>
        <p:spPr>
          <a:xfrm>
            <a:off x="629275" y="167575"/>
            <a:ext cx="640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t>Reasons for Better Performance of Alpha-Beta Pruning</a:t>
            </a:r>
            <a:endParaRPr b="1" sz="18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